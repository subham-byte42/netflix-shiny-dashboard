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Montserrat Bold" charset="1" panose="00000800000000000000"/>
      <p:regular r:id="rId19"/>
    </p:embeddedFont>
    <p:embeddedFont>
      <p:font typeface="Montserrat" charset="1" panose="00000500000000000000"/>
      <p:regular r:id="rId20"/>
    </p:embeddedFont>
    <p:embeddedFont>
      <p:font typeface="Montserrat Semi-Bold" charset="1" panose="000007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4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727486"/>
            <a:ext cx="9954803" cy="9991134"/>
          </a:xfrm>
          <a:custGeom>
            <a:avLst/>
            <a:gdLst/>
            <a:ahLst/>
            <a:cxnLst/>
            <a:rect r="r" b="b" t="t" l="l"/>
            <a:pathLst>
              <a:path h="9991134" w="9954803">
                <a:moveTo>
                  <a:pt x="0" y="0"/>
                </a:moveTo>
                <a:lnTo>
                  <a:pt x="9954803" y="0"/>
                </a:lnTo>
                <a:lnTo>
                  <a:pt x="9954803" y="9991134"/>
                </a:lnTo>
                <a:lnTo>
                  <a:pt x="0" y="9991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87358" y="3188224"/>
            <a:ext cx="10649261" cy="1706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6"/>
              </a:lnSpc>
            </a:pPr>
            <a:r>
              <a:rPr lang="en-US" b="true" sz="7018" spc="-30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NETFLIX MOVIES AND TV SHOWS ANALYSIS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7474" y="5086350"/>
            <a:ext cx="4951363" cy="514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6"/>
              </a:lnSpc>
              <a:spcBef>
                <a:spcPct val="0"/>
              </a:spcBef>
            </a:pPr>
            <a:r>
              <a:rPr lang="en-US" sz="3004" spc="4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PRESENTATION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87358" y="1028700"/>
            <a:ext cx="4347469" cy="797536"/>
            <a:chOff x="0" y="0"/>
            <a:chExt cx="5796626" cy="106338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796626" cy="1063381"/>
              <a:chOff x="0" y="0"/>
              <a:chExt cx="1145012" cy="21005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45012" cy="210051"/>
              </a:xfrm>
              <a:custGeom>
                <a:avLst/>
                <a:gdLst/>
                <a:ahLst/>
                <a:cxnLst/>
                <a:rect r="r" b="b" t="t" l="l"/>
                <a:pathLst>
                  <a:path h="210051" w="1145012">
                    <a:moveTo>
                      <a:pt x="62328" y="0"/>
                    </a:moveTo>
                    <a:lnTo>
                      <a:pt x="1082685" y="0"/>
                    </a:lnTo>
                    <a:cubicBezTo>
                      <a:pt x="1117107" y="0"/>
                      <a:pt x="1145012" y="27905"/>
                      <a:pt x="1145012" y="62328"/>
                    </a:cubicBezTo>
                    <a:lnTo>
                      <a:pt x="1145012" y="147723"/>
                    </a:lnTo>
                    <a:cubicBezTo>
                      <a:pt x="1145012" y="182146"/>
                      <a:pt x="1117107" y="210051"/>
                      <a:pt x="1082685" y="210051"/>
                    </a:cubicBezTo>
                    <a:lnTo>
                      <a:pt x="62328" y="210051"/>
                    </a:lnTo>
                    <a:cubicBezTo>
                      <a:pt x="45797" y="210051"/>
                      <a:pt x="29944" y="203484"/>
                      <a:pt x="18255" y="191795"/>
                    </a:cubicBezTo>
                    <a:cubicBezTo>
                      <a:pt x="6567" y="180107"/>
                      <a:pt x="0" y="164253"/>
                      <a:pt x="0" y="147723"/>
                    </a:cubicBezTo>
                    <a:lnTo>
                      <a:pt x="0" y="62328"/>
                    </a:lnTo>
                    <a:cubicBezTo>
                      <a:pt x="0" y="27905"/>
                      <a:pt x="27905" y="0"/>
                      <a:pt x="62328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145012" cy="2481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30953" y="215668"/>
              <a:ext cx="5565673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63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 VISUALIZATION IN R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87358" y="8275039"/>
            <a:ext cx="5351596" cy="114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164" spc="-64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by  :</a:t>
            </a:r>
          </a:p>
          <a:p>
            <a:pPr algn="l">
              <a:lnSpc>
                <a:spcPts val="3029"/>
              </a:lnSpc>
            </a:pPr>
            <a:r>
              <a:rPr lang="en-US" sz="2164" spc="-64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SUBHAM MEHER</a:t>
            </a:r>
          </a:p>
          <a:p>
            <a:pPr algn="l">
              <a:lnSpc>
                <a:spcPts val="3029"/>
              </a:lnSpc>
              <a:spcBef>
                <a:spcPct val="0"/>
              </a:spcBef>
            </a:pPr>
            <a:r>
              <a:rPr lang="en-US" b="true" sz="2164" spc="-64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2503031590041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5004" y="1203397"/>
            <a:ext cx="604296" cy="349393"/>
          </a:xfrm>
          <a:custGeom>
            <a:avLst/>
            <a:gdLst/>
            <a:ahLst/>
            <a:cxnLst/>
            <a:rect r="r" b="b" t="t" l="l"/>
            <a:pathLst>
              <a:path h="349393" w="604296">
                <a:moveTo>
                  <a:pt x="0" y="0"/>
                </a:moveTo>
                <a:lnTo>
                  <a:pt x="604296" y="0"/>
                </a:lnTo>
                <a:lnTo>
                  <a:pt x="604296" y="349393"/>
                </a:lnTo>
                <a:lnTo>
                  <a:pt x="0" y="349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87760" y="2453892"/>
            <a:ext cx="5567243" cy="6804408"/>
          </a:xfrm>
          <a:custGeom>
            <a:avLst/>
            <a:gdLst/>
            <a:ahLst/>
            <a:cxnLst/>
            <a:rect r="r" b="b" t="t" l="l"/>
            <a:pathLst>
              <a:path h="6804408" w="5567243">
                <a:moveTo>
                  <a:pt x="0" y="0"/>
                </a:moveTo>
                <a:lnTo>
                  <a:pt x="5567244" y="0"/>
                </a:lnTo>
                <a:lnTo>
                  <a:pt x="5567244" y="6804408"/>
                </a:lnTo>
                <a:lnTo>
                  <a:pt x="0" y="68044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87358" y="2976122"/>
            <a:ext cx="8932187" cy="8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b="true" sz="6399" spc="-28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7358" y="4628211"/>
            <a:ext cx="10587038" cy="3144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6"/>
              </a:lnSpc>
              <a:spcBef>
                <a:spcPct val="0"/>
              </a:spcBef>
            </a:pPr>
            <a:r>
              <a:rPr lang="en-US" sz="256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</a:t>
            </a:r>
            <a:r>
              <a:rPr lang="en-US" sz="256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ective</a:t>
            </a:r>
          </a:p>
          <a:p>
            <a:pPr algn="just" marL="553035" indent="-276518" lvl="1">
              <a:lnSpc>
                <a:spcPts val="3586"/>
              </a:lnSpc>
              <a:spcBef>
                <a:spcPct val="0"/>
              </a:spcBef>
              <a:buFont typeface="Arial"/>
              <a:buChar char="•"/>
            </a:pPr>
            <a:r>
              <a:rPr lang="en-US" sz="256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Analyze the Netflix Movies and TV Shows dataset using R.</a:t>
            </a:r>
          </a:p>
          <a:p>
            <a:pPr algn="just" marL="553035" indent="-276518" lvl="1">
              <a:lnSpc>
                <a:spcPts val="3586"/>
              </a:lnSpc>
              <a:spcBef>
                <a:spcPct val="0"/>
              </a:spcBef>
              <a:buFont typeface="Arial"/>
              <a:buChar char="•"/>
            </a:pPr>
            <a:r>
              <a:rPr lang="en-US" sz="256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Explore trends in Netflix content using different visualization techniques.</a:t>
            </a:r>
          </a:p>
          <a:p>
            <a:pPr algn="just" marL="553035" indent="-276518" lvl="1">
              <a:lnSpc>
                <a:spcPts val="3586"/>
              </a:lnSpc>
              <a:spcBef>
                <a:spcPct val="0"/>
              </a:spcBef>
              <a:buFont typeface="Arial"/>
              <a:buChar char="•"/>
            </a:pPr>
            <a:r>
              <a:rPr lang="en-US" sz="256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Identify patterns in content type, country-wise distribution, release trends, duration, and ratings.</a:t>
            </a:r>
          </a:p>
          <a:p>
            <a:pPr algn="just">
              <a:lnSpc>
                <a:spcPts val="35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5004" y="1203397"/>
            <a:ext cx="604296" cy="349393"/>
          </a:xfrm>
          <a:custGeom>
            <a:avLst/>
            <a:gdLst/>
            <a:ahLst/>
            <a:cxnLst/>
            <a:rect r="r" b="b" t="t" l="l"/>
            <a:pathLst>
              <a:path h="349393" w="604296">
                <a:moveTo>
                  <a:pt x="0" y="0"/>
                </a:moveTo>
                <a:lnTo>
                  <a:pt x="604296" y="0"/>
                </a:lnTo>
                <a:lnTo>
                  <a:pt x="604296" y="349393"/>
                </a:lnTo>
                <a:lnTo>
                  <a:pt x="0" y="349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20767" y="6433061"/>
            <a:ext cx="5366244" cy="3853939"/>
          </a:xfrm>
          <a:custGeom>
            <a:avLst/>
            <a:gdLst/>
            <a:ahLst/>
            <a:cxnLst/>
            <a:rect r="r" b="b" t="t" l="l"/>
            <a:pathLst>
              <a:path h="3853939" w="5366244">
                <a:moveTo>
                  <a:pt x="0" y="0"/>
                </a:moveTo>
                <a:lnTo>
                  <a:pt x="5366243" y="0"/>
                </a:lnTo>
                <a:lnTo>
                  <a:pt x="5366243" y="3853939"/>
                </a:lnTo>
                <a:lnTo>
                  <a:pt x="0" y="38539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8709" y="1741355"/>
            <a:ext cx="9605414" cy="5675926"/>
          </a:xfrm>
          <a:custGeom>
            <a:avLst/>
            <a:gdLst/>
            <a:ahLst/>
            <a:cxnLst/>
            <a:rect r="r" b="b" t="t" l="l"/>
            <a:pathLst>
              <a:path h="5675926" w="9605414">
                <a:moveTo>
                  <a:pt x="0" y="0"/>
                </a:moveTo>
                <a:lnTo>
                  <a:pt x="9605413" y="0"/>
                </a:lnTo>
                <a:lnTo>
                  <a:pt x="9605413" y="5675926"/>
                </a:lnTo>
                <a:lnTo>
                  <a:pt x="0" y="56759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01015"/>
            <a:ext cx="10968967" cy="44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3228" spc="-14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Bar Chart – Top 10</a:t>
            </a:r>
            <a:r>
              <a:rPr lang="en-US" b="true" sz="3228" spc="-14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Countries by Number of Netflix Titles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07447" y="2209871"/>
            <a:ext cx="7820908" cy="4681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43"/>
              </a:lnSpc>
              <a:spcBef>
                <a:spcPct val="0"/>
              </a:spcBef>
            </a:pPr>
            <a:r>
              <a:rPr lang="en-US" b="true" sz="310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Obse</a:t>
            </a:r>
            <a:r>
              <a:rPr lang="en-US" b="true" sz="310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rvations</a:t>
            </a:r>
          </a:p>
          <a:p>
            <a:pPr algn="just" marL="400350" indent="-200175" lvl="1">
              <a:lnSpc>
                <a:spcPts val="25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United States contributes the highest number of Netflix titles.</a:t>
            </a:r>
          </a:p>
          <a:p>
            <a:pPr algn="just" marL="400350" indent="-200175" lvl="1">
              <a:lnSpc>
                <a:spcPts val="25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India is among the top content-producing countries.</a:t>
            </a:r>
          </a:p>
          <a:p>
            <a:pPr algn="just" marL="400350" indent="-200175" lvl="1">
              <a:lnSpc>
                <a:spcPts val="25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Most of Netflix's content comes from a few major entertainment industries.</a:t>
            </a:r>
          </a:p>
          <a:p>
            <a:pPr algn="just" marL="400350" indent="-200175" lvl="1">
              <a:lnSpc>
                <a:spcPts val="25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Some countries have significantly fewer titles, showing unequal content distribution.</a:t>
            </a:r>
          </a:p>
          <a:p>
            <a:pPr algn="just">
              <a:lnSpc>
                <a:spcPts val="4343"/>
              </a:lnSpc>
              <a:spcBef>
                <a:spcPct val="0"/>
              </a:spcBef>
            </a:pPr>
            <a:r>
              <a:rPr lang="en-US" b="true" sz="310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  <a:p>
            <a:pPr algn="just" marL="400350" indent="-200175" lvl="1">
              <a:lnSpc>
                <a:spcPts val="25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Netflix has a strong presence in North America and Asia.</a:t>
            </a:r>
          </a:p>
          <a:p>
            <a:pPr algn="just" marL="400350" indent="-200175" lvl="1">
              <a:lnSpc>
                <a:spcPts val="25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platform focuses heavily on countries with large entertainment industries.</a:t>
            </a:r>
          </a:p>
          <a:p>
            <a:pPr algn="just">
              <a:lnSpc>
                <a:spcPts val="259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5004" y="1203397"/>
            <a:ext cx="604296" cy="349393"/>
          </a:xfrm>
          <a:custGeom>
            <a:avLst/>
            <a:gdLst/>
            <a:ahLst/>
            <a:cxnLst/>
            <a:rect r="r" b="b" t="t" l="l"/>
            <a:pathLst>
              <a:path h="349393" w="604296">
                <a:moveTo>
                  <a:pt x="0" y="0"/>
                </a:moveTo>
                <a:lnTo>
                  <a:pt x="604296" y="0"/>
                </a:lnTo>
                <a:lnTo>
                  <a:pt x="604296" y="349393"/>
                </a:lnTo>
                <a:lnTo>
                  <a:pt x="0" y="349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10644" y="2493603"/>
            <a:ext cx="5448656" cy="6764697"/>
          </a:xfrm>
          <a:custGeom>
            <a:avLst/>
            <a:gdLst/>
            <a:ahLst/>
            <a:cxnLst/>
            <a:rect r="r" b="b" t="t" l="l"/>
            <a:pathLst>
              <a:path h="6764697" w="5448656">
                <a:moveTo>
                  <a:pt x="0" y="0"/>
                </a:moveTo>
                <a:lnTo>
                  <a:pt x="5448656" y="0"/>
                </a:lnTo>
                <a:lnTo>
                  <a:pt x="5448656" y="6764697"/>
                </a:lnTo>
                <a:lnTo>
                  <a:pt x="0" y="67646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79382" y="2493603"/>
            <a:ext cx="1070052" cy="6764697"/>
          </a:xfrm>
          <a:custGeom>
            <a:avLst/>
            <a:gdLst/>
            <a:ahLst/>
            <a:cxnLst/>
            <a:rect r="r" b="b" t="t" l="l"/>
            <a:pathLst>
              <a:path h="6764697" w="1070052">
                <a:moveTo>
                  <a:pt x="0" y="0"/>
                </a:moveTo>
                <a:lnTo>
                  <a:pt x="1070052" y="0"/>
                </a:lnTo>
                <a:lnTo>
                  <a:pt x="1070052" y="6764697"/>
                </a:lnTo>
                <a:lnTo>
                  <a:pt x="0" y="67646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68539" y="266541"/>
            <a:ext cx="9485708" cy="9941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country_data &lt;-</a:t>
            </a: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netflix %&gt;%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separate_rows(country, sep=",") %&gt;%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mutate(country=str_trim(country)) %&gt;%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count(country, sort=TRUE) %&gt;%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slice(1:10)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output$countryPlot &lt;- renderPlot({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ggplot(country_data,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aes(reorder(country,n),n,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fill=n))+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ge</a:t>
            </a: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om_col()+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coord_flip()+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labs(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x="Country",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y="Titles"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)+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theme_minimal(base_size=14)+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theme(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legend.position="none"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)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})</a:t>
            </a:r>
          </a:p>
          <a:p>
            <a:pPr algn="just">
              <a:lnSpc>
                <a:spcPts val="274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5004" y="1203397"/>
            <a:ext cx="604296" cy="349393"/>
          </a:xfrm>
          <a:custGeom>
            <a:avLst/>
            <a:gdLst/>
            <a:ahLst/>
            <a:cxnLst/>
            <a:rect r="r" b="b" t="t" l="l"/>
            <a:pathLst>
              <a:path h="349393" w="604296">
                <a:moveTo>
                  <a:pt x="0" y="0"/>
                </a:moveTo>
                <a:lnTo>
                  <a:pt x="604296" y="0"/>
                </a:lnTo>
                <a:lnTo>
                  <a:pt x="604296" y="349393"/>
                </a:lnTo>
                <a:lnTo>
                  <a:pt x="0" y="349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74442" y="6956853"/>
            <a:ext cx="5151250" cy="3493484"/>
          </a:xfrm>
          <a:custGeom>
            <a:avLst/>
            <a:gdLst/>
            <a:ahLst/>
            <a:cxnLst/>
            <a:rect r="r" b="b" t="t" l="l"/>
            <a:pathLst>
              <a:path h="3493484" w="5151250">
                <a:moveTo>
                  <a:pt x="0" y="0"/>
                </a:moveTo>
                <a:lnTo>
                  <a:pt x="5151251" y="0"/>
                </a:lnTo>
                <a:lnTo>
                  <a:pt x="5151251" y="3493484"/>
                </a:lnTo>
                <a:lnTo>
                  <a:pt x="0" y="34934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4829" y="4103632"/>
            <a:ext cx="2054471" cy="1393305"/>
          </a:xfrm>
          <a:custGeom>
            <a:avLst/>
            <a:gdLst/>
            <a:ahLst/>
            <a:cxnLst/>
            <a:rect r="r" b="b" t="t" l="l"/>
            <a:pathLst>
              <a:path h="1393305" w="2054471">
                <a:moveTo>
                  <a:pt x="0" y="0"/>
                </a:moveTo>
                <a:lnTo>
                  <a:pt x="2054471" y="0"/>
                </a:lnTo>
                <a:lnTo>
                  <a:pt x="2054471" y="1393305"/>
                </a:lnTo>
                <a:lnTo>
                  <a:pt x="0" y="13933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8315" y="2164111"/>
            <a:ext cx="9791188" cy="5799876"/>
          </a:xfrm>
          <a:custGeom>
            <a:avLst/>
            <a:gdLst/>
            <a:ahLst/>
            <a:cxnLst/>
            <a:rect r="r" b="b" t="t" l="l"/>
            <a:pathLst>
              <a:path h="5799876" w="9791188">
                <a:moveTo>
                  <a:pt x="0" y="0"/>
                </a:moveTo>
                <a:lnTo>
                  <a:pt x="9791188" y="0"/>
                </a:lnTo>
                <a:lnTo>
                  <a:pt x="9791188" y="5799876"/>
                </a:lnTo>
                <a:lnTo>
                  <a:pt x="0" y="57998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3044" y="548093"/>
            <a:ext cx="14491784" cy="100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b="true" sz="7200" spc="-3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Pie Chart – Mov</a:t>
            </a:r>
            <a:r>
              <a:rPr lang="en-US" b="true" sz="7200" spc="-3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ies vs TV Shows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8029" y="6560613"/>
            <a:ext cx="746242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Structured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61746" y="2562597"/>
            <a:ext cx="7735537" cy="4110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3"/>
              </a:lnSpc>
              <a:spcBef>
                <a:spcPct val="0"/>
              </a:spcBef>
            </a:pPr>
            <a:r>
              <a:rPr lang="en-US" b="true" sz="319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Obs</a:t>
            </a:r>
            <a:r>
              <a:rPr lang="en-US" b="true" sz="319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ervations</a:t>
            </a:r>
          </a:p>
          <a:p>
            <a:pPr algn="just" marL="398870" indent="-199435" lvl="1">
              <a:lnSpc>
                <a:spcPts val="2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Movies account for the majority of Netflix content.</a:t>
            </a:r>
          </a:p>
          <a:p>
            <a:pPr algn="just" marL="398870" indent="-199435" lvl="1">
              <a:lnSpc>
                <a:spcPts val="2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TV Shows represent a smaller but significant share.</a:t>
            </a:r>
          </a:p>
          <a:p>
            <a:pPr algn="just" marL="398870" indent="-199435" lvl="1">
              <a:lnSpc>
                <a:spcPts val="2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platform offers more standalone movie content than long-running series.</a:t>
            </a:r>
          </a:p>
          <a:p>
            <a:pPr algn="just">
              <a:lnSpc>
                <a:spcPts val="4908"/>
              </a:lnSpc>
              <a:spcBef>
                <a:spcPct val="0"/>
              </a:spcBef>
            </a:pPr>
            <a:r>
              <a:rPr lang="en-US" b="true" sz="35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  <a:p>
            <a:pPr algn="just" marL="398870" indent="-199435" lvl="1">
              <a:lnSpc>
                <a:spcPts val="2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Netflix emphasizes movies while maintaining a diverse TV Show collection.</a:t>
            </a:r>
          </a:p>
          <a:p>
            <a:pPr algn="just" marL="398870" indent="-199435" lvl="1">
              <a:lnSpc>
                <a:spcPts val="2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This indicates that movie licensing and production remain a major strategy.</a:t>
            </a:r>
          </a:p>
          <a:p>
            <a:pPr algn="just">
              <a:lnSpc>
                <a:spcPts val="25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5004" y="1203397"/>
            <a:ext cx="604296" cy="349393"/>
          </a:xfrm>
          <a:custGeom>
            <a:avLst/>
            <a:gdLst/>
            <a:ahLst/>
            <a:cxnLst/>
            <a:rect r="r" b="b" t="t" l="l"/>
            <a:pathLst>
              <a:path h="349393" w="604296">
                <a:moveTo>
                  <a:pt x="0" y="0"/>
                </a:moveTo>
                <a:lnTo>
                  <a:pt x="604296" y="0"/>
                </a:lnTo>
                <a:lnTo>
                  <a:pt x="604296" y="349393"/>
                </a:lnTo>
                <a:lnTo>
                  <a:pt x="0" y="349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87760" y="2453892"/>
            <a:ext cx="5567243" cy="6804408"/>
          </a:xfrm>
          <a:custGeom>
            <a:avLst/>
            <a:gdLst/>
            <a:ahLst/>
            <a:cxnLst/>
            <a:rect r="r" b="b" t="t" l="l"/>
            <a:pathLst>
              <a:path h="6804408" w="5567243">
                <a:moveTo>
                  <a:pt x="0" y="0"/>
                </a:moveTo>
                <a:lnTo>
                  <a:pt x="5567244" y="0"/>
                </a:lnTo>
                <a:lnTo>
                  <a:pt x="5567244" y="6804408"/>
                </a:lnTo>
                <a:lnTo>
                  <a:pt x="0" y="68044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2215" y="-47625"/>
            <a:ext cx="8864966" cy="1066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type_data &lt;- netflix %&gt;%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count(type)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output$piePlot &lt;- renderPlot({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ggplot(type_data,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aes(x="",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y=n,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fill=type))+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geom_bar(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width=1,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stat="identity"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)+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coord_polar("y")+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theme_void(base_size=15)+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geom_text(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aes(label=n),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position=position_stack(vjust=0.5),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color="white",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size=5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)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  <a:r>
              <a:rPr lang="en-US" b="true" sz="21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})</a:t>
            </a:r>
          </a:p>
          <a:p>
            <a:pPr algn="just">
              <a:lnSpc>
                <a:spcPts val="300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5004" y="1203397"/>
            <a:ext cx="604296" cy="349393"/>
          </a:xfrm>
          <a:custGeom>
            <a:avLst/>
            <a:gdLst/>
            <a:ahLst/>
            <a:cxnLst/>
            <a:rect r="r" b="b" t="t" l="l"/>
            <a:pathLst>
              <a:path h="349393" w="604296">
                <a:moveTo>
                  <a:pt x="0" y="0"/>
                </a:moveTo>
                <a:lnTo>
                  <a:pt x="604296" y="0"/>
                </a:lnTo>
                <a:lnTo>
                  <a:pt x="604296" y="349393"/>
                </a:lnTo>
                <a:lnTo>
                  <a:pt x="0" y="349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35712" y="5800697"/>
            <a:ext cx="5985085" cy="4472491"/>
          </a:xfrm>
          <a:custGeom>
            <a:avLst/>
            <a:gdLst/>
            <a:ahLst/>
            <a:cxnLst/>
            <a:rect r="r" b="b" t="t" l="l"/>
            <a:pathLst>
              <a:path h="4472491" w="5985085">
                <a:moveTo>
                  <a:pt x="0" y="0"/>
                </a:moveTo>
                <a:lnTo>
                  <a:pt x="5985085" y="0"/>
                </a:lnTo>
                <a:lnTo>
                  <a:pt x="5985085" y="4472491"/>
                </a:lnTo>
                <a:lnTo>
                  <a:pt x="0" y="44724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79628" y="895841"/>
            <a:ext cx="9990697" cy="5928823"/>
          </a:xfrm>
          <a:custGeom>
            <a:avLst/>
            <a:gdLst/>
            <a:ahLst/>
            <a:cxnLst/>
            <a:rect r="r" b="b" t="t" l="l"/>
            <a:pathLst>
              <a:path h="5928823" w="9990697">
                <a:moveTo>
                  <a:pt x="0" y="0"/>
                </a:moveTo>
                <a:lnTo>
                  <a:pt x="9990697" y="0"/>
                </a:lnTo>
                <a:lnTo>
                  <a:pt x="9990697" y="5928823"/>
                </a:lnTo>
                <a:lnTo>
                  <a:pt x="0" y="59288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832460" y="2028620"/>
            <a:ext cx="7073046" cy="568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49"/>
              </a:lnSpc>
              <a:spcBef>
                <a:spcPct val="0"/>
              </a:spcBef>
            </a:pPr>
            <a:r>
              <a:rPr lang="en-US" b="true" sz="332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Obs</a:t>
            </a:r>
            <a:r>
              <a:rPr lang="en-US" b="true" sz="332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ervations</a:t>
            </a:r>
          </a:p>
          <a:p>
            <a:pPr algn="just" marL="457900" indent="-228950" lvl="1">
              <a:lnSpc>
                <a:spcPts val="29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2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number of titles added increased steadily over time.</a:t>
            </a:r>
          </a:p>
          <a:p>
            <a:pPr algn="just" marL="457900" indent="-228950" lvl="1">
              <a:lnSpc>
                <a:spcPts val="29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2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sharp rise is visible during Netflix's expansion years.</a:t>
            </a:r>
          </a:p>
          <a:p>
            <a:pPr algn="just" marL="457900" indent="-228950" lvl="1">
              <a:lnSpc>
                <a:spcPts val="29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2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After reaching a peak, the growth slows slightly in later years.</a:t>
            </a:r>
          </a:p>
          <a:p>
            <a:pPr algn="just">
              <a:lnSpc>
                <a:spcPts val="2969"/>
              </a:lnSpc>
              <a:spcBef>
                <a:spcPct val="0"/>
              </a:spcBef>
            </a:pPr>
          </a:p>
          <a:p>
            <a:pPr algn="just">
              <a:lnSpc>
                <a:spcPts val="5209"/>
              </a:lnSpc>
              <a:spcBef>
                <a:spcPct val="0"/>
              </a:spcBef>
            </a:pPr>
            <a:r>
              <a:rPr lang="en-US" b="true" sz="372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  <a:p>
            <a:pPr algn="just" marL="457900" indent="-228950" lvl="1">
              <a:lnSpc>
                <a:spcPts val="29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2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Netflix rapidly expanded its content library over several years.</a:t>
            </a:r>
          </a:p>
          <a:p>
            <a:pPr algn="just" marL="457900" indent="-228950" lvl="1">
              <a:lnSpc>
                <a:spcPts val="29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2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platform invested heavily in increasing content to attract global audiences.</a:t>
            </a:r>
          </a:p>
          <a:p>
            <a:pPr algn="just">
              <a:lnSpc>
                <a:spcPts val="296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5004" y="1203397"/>
            <a:ext cx="604296" cy="349393"/>
          </a:xfrm>
          <a:custGeom>
            <a:avLst/>
            <a:gdLst/>
            <a:ahLst/>
            <a:cxnLst/>
            <a:rect r="r" b="b" t="t" l="l"/>
            <a:pathLst>
              <a:path h="349393" w="604296">
                <a:moveTo>
                  <a:pt x="0" y="0"/>
                </a:moveTo>
                <a:lnTo>
                  <a:pt x="604296" y="0"/>
                </a:lnTo>
                <a:lnTo>
                  <a:pt x="604296" y="349393"/>
                </a:lnTo>
                <a:lnTo>
                  <a:pt x="0" y="349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41792" y="2405336"/>
            <a:ext cx="6217508" cy="6852964"/>
          </a:xfrm>
          <a:custGeom>
            <a:avLst/>
            <a:gdLst/>
            <a:ahLst/>
            <a:cxnLst/>
            <a:rect r="r" b="b" t="t" l="l"/>
            <a:pathLst>
              <a:path h="6852964" w="6217508">
                <a:moveTo>
                  <a:pt x="0" y="0"/>
                </a:moveTo>
                <a:lnTo>
                  <a:pt x="6217508" y="0"/>
                </a:lnTo>
                <a:lnTo>
                  <a:pt x="6217508" y="6852964"/>
                </a:lnTo>
                <a:lnTo>
                  <a:pt x="0" y="68529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75103" y="333430"/>
            <a:ext cx="7799062" cy="932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</a:t>
            </a: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ear_data &lt;- netflix %&gt;%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filter(!is.na(year_added)) %&gt;%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count(year_added)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output$linePlot &lt;- renderPlot({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ggplot(year_data,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aes(year_added,n))+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geom_line(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size=1.3,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color="steelblue"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)+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geom_point(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size=3,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color="red"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)+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labs(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x="Year",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y="Titles Added"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)+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theme_minimal(base_size=14)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b="true" sz="19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})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5004" y="1203397"/>
            <a:ext cx="604296" cy="349393"/>
          </a:xfrm>
          <a:custGeom>
            <a:avLst/>
            <a:gdLst/>
            <a:ahLst/>
            <a:cxnLst/>
            <a:rect r="r" b="b" t="t" l="l"/>
            <a:pathLst>
              <a:path h="349393" w="604296">
                <a:moveTo>
                  <a:pt x="0" y="0"/>
                </a:moveTo>
                <a:lnTo>
                  <a:pt x="604296" y="0"/>
                </a:lnTo>
                <a:lnTo>
                  <a:pt x="604296" y="349393"/>
                </a:lnTo>
                <a:lnTo>
                  <a:pt x="0" y="349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14079" y="51827"/>
            <a:ext cx="2881849" cy="3001926"/>
          </a:xfrm>
          <a:custGeom>
            <a:avLst/>
            <a:gdLst/>
            <a:ahLst/>
            <a:cxnLst/>
            <a:rect r="r" b="b" t="t" l="l"/>
            <a:pathLst>
              <a:path h="3001926" w="2881849">
                <a:moveTo>
                  <a:pt x="0" y="0"/>
                </a:moveTo>
                <a:lnTo>
                  <a:pt x="2881849" y="0"/>
                </a:lnTo>
                <a:lnTo>
                  <a:pt x="2881849" y="3001926"/>
                </a:lnTo>
                <a:lnTo>
                  <a:pt x="0" y="30019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4265" y="7515404"/>
            <a:ext cx="3172146" cy="2531949"/>
          </a:xfrm>
          <a:custGeom>
            <a:avLst/>
            <a:gdLst/>
            <a:ahLst/>
            <a:cxnLst/>
            <a:rect r="r" b="b" t="t" l="l"/>
            <a:pathLst>
              <a:path h="2531949" w="3172146">
                <a:moveTo>
                  <a:pt x="0" y="0"/>
                </a:moveTo>
                <a:lnTo>
                  <a:pt x="3172146" y="0"/>
                </a:lnTo>
                <a:lnTo>
                  <a:pt x="3172146" y="2531949"/>
                </a:lnTo>
                <a:lnTo>
                  <a:pt x="0" y="25319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5184" y="2380596"/>
            <a:ext cx="10472412" cy="6400783"/>
          </a:xfrm>
          <a:custGeom>
            <a:avLst/>
            <a:gdLst/>
            <a:ahLst/>
            <a:cxnLst/>
            <a:rect r="r" b="b" t="t" l="l"/>
            <a:pathLst>
              <a:path h="6400783" w="10472412">
                <a:moveTo>
                  <a:pt x="0" y="0"/>
                </a:moveTo>
                <a:lnTo>
                  <a:pt x="10472412" y="0"/>
                </a:lnTo>
                <a:lnTo>
                  <a:pt x="10472412" y="6400782"/>
                </a:lnTo>
                <a:lnTo>
                  <a:pt x="0" y="6400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8" t="0" r="-1108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5184" y="622609"/>
            <a:ext cx="12967235" cy="75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1"/>
              </a:lnSpc>
            </a:pPr>
            <a:r>
              <a:rPr lang="en-US" sz="5365" spc="-236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Box Plot</a:t>
            </a:r>
            <a:r>
              <a:rPr lang="en-US" b="true" sz="5365" spc="-23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– Movie Duration Distribution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77437" y="2457296"/>
            <a:ext cx="6380208" cy="620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63"/>
              </a:lnSpc>
              <a:spcBef>
                <a:spcPct val="0"/>
              </a:spcBef>
            </a:pPr>
            <a:r>
              <a:rPr lang="en-US" b="true" sz="390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Obse</a:t>
            </a:r>
            <a:r>
              <a:rPr lang="en-US" b="true" sz="390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rvations</a:t>
            </a:r>
          </a:p>
          <a:p>
            <a:pPr algn="just" marL="503496" indent="-251748" lvl="1">
              <a:lnSpc>
                <a:spcPts val="326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3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Most movies fall within a common duration range.</a:t>
            </a:r>
          </a:p>
          <a:p>
            <a:pPr algn="just" marL="503496" indent="-251748" lvl="1">
              <a:lnSpc>
                <a:spcPts val="326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3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few movies have exceptionally long durations (outliers).</a:t>
            </a:r>
          </a:p>
          <a:p>
            <a:pPr algn="just" marL="503496" indent="-251748" lvl="1">
              <a:lnSpc>
                <a:spcPts val="326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3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median duration represents the typical Netflix movie length.</a:t>
            </a:r>
          </a:p>
          <a:p>
            <a:pPr algn="just">
              <a:lnSpc>
                <a:spcPts val="3997"/>
              </a:lnSpc>
              <a:spcBef>
                <a:spcPct val="0"/>
              </a:spcBef>
            </a:pPr>
          </a:p>
          <a:p>
            <a:pPr algn="just">
              <a:lnSpc>
                <a:spcPts val="3997"/>
              </a:lnSpc>
              <a:spcBef>
                <a:spcPct val="0"/>
              </a:spcBef>
            </a:pPr>
            <a:r>
              <a:rPr lang="en-US" b="true" sz="28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  <a:p>
            <a:pPr algn="just" marL="503496" indent="-251748" lvl="1">
              <a:lnSpc>
                <a:spcPts val="326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3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Netflix primarily offers standard-length movies.</a:t>
            </a:r>
          </a:p>
          <a:p>
            <a:pPr algn="just" marL="503496" indent="-251748" lvl="1">
              <a:lnSpc>
                <a:spcPts val="326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3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Extremely short or very long movies are relatively uncommon.</a:t>
            </a:r>
          </a:p>
          <a:p>
            <a:pPr algn="just">
              <a:lnSpc>
                <a:spcPts val="326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7358" y="1028700"/>
            <a:ext cx="2024406" cy="698786"/>
            <a:chOff x="0" y="0"/>
            <a:chExt cx="2699208" cy="93171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699208" cy="931715"/>
              <a:chOff x="0" y="0"/>
              <a:chExt cx="533177" cy="1840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33177" cy="184042"/>
              </a:xfrm>
              <a:custGeom>
                <a:avLst/>
                <a:gdLst/>
                <a:ahLst/>
                <a:cxnLst/>
                <a:rect r="r" b="b" t="t" l="l"/>
                <a:pathLst>
                  <a:path h="184042" w="533177">
                    <a:moveTo>
                      <a:pt x="92021" y="0"/>
                    </a:moveTo>
                    <a:lnTo>
                      <a:pt x="441156" y="0"/>
                    </a:lnTo>
                    <a:cubicBezTo>
                      <a:pt x="491978" y="0"/>
                      <a:pt x="533177" y="41199"/>
                      <a:pt x="533177" y="92021"/>
                    </a:cubicBezTo>
                    <a:lnTo>
                      <a:pt x="533177" y="92021"/>
                    </a:lnTo>
                    <a:cubicBezTo>
                      <a:pt x="533177" y="142843"/>
                      <a:pt x="491978" y="184042"/>
                      <a:pt x="441156" y="184042"/>
                    </a:cubicBezTo>
                    <a:lnTo>
                      <a:pt x="92021" y="184042"/>
                    </a:lnTo>
                    <a:cubicBezTo>
                      <a:pt x="41199" y="184042"/>
                      <a:pt x="0" y="142843"/>
                      <a:pt x="0" y="92021"/>
                    </a:cubicBezTo>
                    <a:lnTo>
                      <a:pt x="0" y="92021"/>
                    </a:lnTo>
                    <a:cubicBezTo>
                      <a:pt x="0" y="41199"/>
                      <a:pt x="41199" y="0"/>
                      <a:pt x="92021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533177" cy="2221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30953" y="215668"/>
              <a:ext cx="2237303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63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RIMBERIO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655004" y="1203397"/>
            <a:ext cx="604296" cy="349393"/>
          </a:xfrm>
          <a:custGeom>
            <a:avLst/>
            <a:gdLst/>
            <a:ahLst/>
            <a:cxnLst/>
            <a:rect r="r" b="b" t="t" l="l"/>
            <a:pathLst>
              <a:path h="349393" w="604296">
                <a:moveTo>
                  <a:pt x="0" y="0"/>
                </a:moveTo>
                <a:lnTo>
                  <a:pt x="604296" y="0"/>
                </a:lnTo>
                <a:lnTo>
                  <a:pt x="604296" y="349393"/>
                </a:lnTo>
                <a:lnTo>
                  <a:pt x="0" y="349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60776" y="2634370"/>
            <a:ext cx="698524" cy="6623930"/>
          </a:xfrm>
          <a:custGeom>
            <a:avLst/>
            <a:gdLst/>
            <a:ahLst/>
            <a:cxnLst/>
            <a:rect r="r" b="b" t="t" l="l"/>
            <a:pathLst>
              <a:path h="6623930" w="698524">
                <a:moveTo>
                  <a:pt x="0" y="0"/>
                </a:moveTo>
                <a:lnTo>
                  <a:pt x="698524" y="0"/>
                </a:lnTo>
                <a:lnTo>
                  <a:pt x="698524" y="6623930"/>
                </a:lnTo>
                <a:lnTo>
                  <a:pt x="0" y="6623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2634370"/>
            <a:ext cx="5034187" cy="6623930"/>
          </a:xfrm>
          <a:custGeom>
            <a:avLst/>
            <a:gdLst/>
            <a:ahLst/>
            <a:cxnLst/>
            <a:rect r="r" b="b" t="t" l="l"/>
            <a:pathLst>
              <a:path h="6623930" w="5034187">
                <a:moveTo>
                  <a:pt x="0" y="0"/>
                </a:moveTo>
                <a:lnTo>
                  <a:pt x="5034187" y="0"/>
                </a:lnTo>
                <a:lnTo>
                  <a:pt x="5034187" y="6623930"/>
                </a:lnTo>
                <a:lnTo>
                  <a:pt x="0" y="66239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725469" y="990600"/>
            <a:ext cx="7519823" cy="8888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movies &lt;- netflix %&gt;%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filter(type=="Movie") %&gt;%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mutate(duration_num=as.numeric(str_extract(duration,"\\d+")))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output$boxPlot &lt;- renderPlot({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ggplot(movies,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   aes(x=type,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y=duration_num,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fill=type))+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geom_boxplot()+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labs(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x="",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y="Minutes"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)+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theme_minimal(base_size=14)+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theme(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legend.position="none"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)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</a:p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})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5004" y="1203397"/>
            <a:ext cx="604296" cy="349393"/>
          </a:xfrm>
          <a:custGeom>
            <a:avLst/>
            <a:gdLst/>
            <a:ahLst/>
            <a:cxnLst/>
            <a:rect r="r" b="b" t="t" l="l"/>
            <a:pathLst>
              <a:path h="349393" w="604296">
                <a:moveTo>
                  <a:pt x="0" y="0"/>
                </a:moveTo>
                <a:lnTo>
                  <a:pt x="604296" y="0"/>
                </a:lnTo>
                <a:lnTo>
                  <a:pt x="604296" y="349393"/>
                </a:lnTo>
                <a:lnTo>
                  <a:pt x="0" y="349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70508" y="6847523"/>
            <a:ext cx="4773492" cy="3567101"/>
          </a:xfrm>
          <a:custGeom>
            <a:avLst/>
            <a:gdLst/>
            <a:ahLst/>
            <a:cxnLst/>
            <a:rect r="r" b="b" t="t" l="l"/>
            <a:pathLst>
              <a:path h="3567101" w="4773492">
                <a:moveTo>
                  <a:pt x="0" y="0"/>
                </a:moveTo>
                <a:lnTo>
                  <a:pt x="4773492" y="0"/>
                </a:lnTo>
                <a:lnTo>
                  <a:pt x="4773492" y="3567101"/>
                </a:lnTo>
                <a:lnTo>
                  <a:pt x="0" y="35671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3553" y="2926008"/>
            <a:ext cx="11505101" cy="4348783"/>
          </a:xfrm>
          <a:custGeom>
            <a:avLst/>
            <a:gdLst/>
            <a:ahLst/>
            <a:cxnLst/>
            <a:rect r="r" b="b" t="t" l="l"/>
            <a:pathLst>
              <a:path h="4348783" w="11505101">
                <a:moveTo>
                  <a:pt x="0" y="0"/>
                </a:moveTo>
                <a:lnTo>
                  <a:pt x="11505101" y="0"/>
                </a:lnTo>
                <a:lnTo>
                  <a:pt x="11505101" y="4348783"/>
                </a:lnTo>
                <a:lnTo>
                  <a:pt x="0" y="43487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4856" y="630704"/>
            <a:ext cx="13364640" cy="747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1"/>
              </a:lnSpc>
            </a:pPr>
            <a:r>
              <a:rPr lang="en-US" sz="5375" spc="-236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Heatm</a:t>
            </a:r>
            <a:r>
              <a:rPr lang="en-US" b="true" sz="5375" spc="-23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 – Rating vs Content Type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00730" y="2873230"/>
            <a:ext cx="5978514" cy="4362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5"/>
              </a:lnSpc>
              <a:spcBef>
                <a:spcPct val="0"/>
              </a:spcBef>
            </a:pPr>
            <a:r>
              <a:rPr lang="en-US" b="true" sz="249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Obs</a:t>
            </a:r>
            <a:r>
              <a:rPr lang="en-US" b="true" sz="249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ervations</a:t>
            </a:r>
          </a:p>
          <a:p>
            <a:pPr algn="just" marL="387042" indent="-193521" lvl="1">
              <a:lnSpc>
                <a:spcPts val="2509"/>
              </a:lnSpc>
              <a:spcBef>
                <a:spcPct val="0"/>
              </a:spcBef>
              <a:buFont typeface="Arial"/>
              <a:buChar char="•"/>
            </a:pPr>
            <a:r>
              <a:rPr lang="en-US" sz="17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Certain ratings appear much more frequently than others.</a:t>
            </a:r>
          </a:p>
          <a:p>
            <a:pPr algn="just" marL="387042" indent="-193521" lvl="1">
              <a:lnSpc>
                <a:spcPts val="2509"/>
              </a:lnSpc>
              <a:spcBef>
                <a:spcPct val="0"/>
              </a:spcBef>
              <a:buFont typeface="Arial"/>
              <a:buChar char="•"/>
            </a:pPr>
            <a:r>
              <a:rPr lang="en-US" sz="17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TV Shows and Movies differ in their rating distributions.</a:t>
            </a:r>
          </a:p>
          <a:p>
            <a:pPr algn="just" marL="387042" indent="-193521" lvl="1">
              <a:lnSpc>
                <a:spcPts val="2509"/>
              </a:lnSpc>
              <a:spcBef>
                <a:spcPct val="0"/>
              </a:spcBef>
              <a:buFont typeface="Arial"/>
              <a:buChar char="•"/>
            </a:pPr>
            <a:r>
              <a:rPr lang="en-US" sz="17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Mature audience ratings (such as TV-MA) are common in Netflix's catalog.</a:t>
            </a:r>
          </a:p>
          <a:p>
            <a:pPr algn="just">
              <a:lnSpc>
                <a:spcPts val="3636"/>
              </a:lnSpc>
              <a:spcBef>
                <a:spcPct val="0"/>
              </a:spcBef>
            </a:pPr>
            <a:r>
              <a:rPr lang="en-US" b="true" sz="259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  <a:p>
            <a:pPr algn="just" marL="387042" indent="-193521" lvl="1">
              <a:lnSpc>
                <a:spcPts val="2509"/>
              </a:lnSpc>
              <a:spcBef>
                <a:spcPct val="0"/>
              </a:spcBef>
              <a:buFont typeface="Arial"/>
              <a:buChar char="•"/>
            </a:pPr>
            <a:r>
              <a:rPr lang="en-US" sz="17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Netflix provides content suitable for multiple age groups.</a:t>
            </a:r>
          </a:p>
          <a:p>
            <a:pPr algn="just" marL="387042" indent="-193521" lvl="1">
              <a:lnSpc>
                <a:spcPts val="2509"/>
              </a:lnSpc>
              <a:spcBef>
                <a:spcPct val="0"/>
              </a:spcBef>
              <a:buFont typeface="Arial"/>
              <a:buChar char="•"/>
            </a:pPr>
            <a:r>
              <a:rPr lang="en-US" sz="17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Adult-oriented content forms a significant portion of the platform's library.</a:t>
            </a:r>
          </a:p>
          <a:p>
            <a:pPr algn="just">
              <a:lnSpc>
                <a:spcPts val="25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5004" y="1203397"/>
            <a:ext cx="604296" cy="349393"/>
          </a:xfrm>
          <a:custGeom>
            <a:avLst/>
            <a:gdLst/>
            <a:ahLst/>
            <a:cxnLst/>
            <a:rect r="r" b="b" t="t" l="l"/>
            <a:pathLst>
              <a:path h="349393" w="604296">
                <a:moveTo>
                  <a:pt x="0" y="0"/>
                </a:moveTo>
                <a:lnTo>
                  <a:pt x="604296" y="0"/>
                </a:lnTo>
                <a:lnTo>
                  <a:pt x="604296" y="349393"/>
                </a:lnTo>
                <a:lnTo>
                  <a:pt x="0" y="349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7358" y="2244027"/>
            <a:ext cx="7362309" cy="7014273"/>
          </a:xfrm>
          <a:custGeom>
            <a:avLst/>
            <a:gdLst/>
            <a:ahLst/>
            <a:cxnLst/>
            <a:rect r="r" b="b" t="t" l="l"/>
            <a:pathLst>
              <a:path h="7014273" w="7362309">
                <a:moveTo>
                  <a:pt x="0" y="0"/>
                </a:moveTo>
                <a:lnTo>
                  <a:pt x="7362309" y="0"/>
                </a:lnTo>
                <a:lnTo>
                  <a:pt x="7362309" y="7014273"/>
                </a:lnTo>
                <a:lnTo>
                  <a:pt x="0" y="70142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931938" y="107864"/>
            <a:ext cx="5625226" cy="1027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</a:t>
            </a: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eat_data &lt;- netflix %&gt;%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count(type,rating)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</a:p>
          <a:p>
            <a:pPr algn="just">
              <a:lnSpc>
                <a:spcPts val="2083"/>
              </a:lnSpc>
              <a:spcBef>
                <a:spcPct val="0"/>
              </a:spcBef>
            </a:pP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output$heatPlot &lt;- renderPlot({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ggplot(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heat_data,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aes(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rating,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type,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fill=n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)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)+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geom_tile(color="white")+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geom_text(aes(label=n),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size=4)+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labs(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x="Rating",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y="Type"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)+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theme_minimal(base_size=13)+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theme(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axis.text.x=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element_text(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angle=45,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hjust=1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)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)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})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  <a:r>
              <a:rPr lang="en-US" b="true" sz="148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}</a:t>
            </a:r>
          </a:p>
          <a:p>
            <a:pPr algn="just">
              <a:lnSpc>
                <a:spcPts val="2083"/>
              </a:lnSpc>
              <a:spcBef>
                <a:spcPct val="0"/>
              </a:spcBef>
            </a:pPr>
          </a:p>
          <a:p>
            <a:pPr algn="just">
              <a:lnSpc>
                <a:spcPts val="208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5004" y="1203397"/>
            <a:ext cx="604296" cy="349393"/>
          </a:xfrm>
          <a:custGeom>
            <a:avLst/>
            <a:gdLst/>
            <a:ahLst/>
            <a:cxnLst/>
            <a:rect r="r" b="b" t="t" l="l"/>
            <a:pathLst>
              <a:path h="349393" w="604296">
                <a:moveTo>
                  <a:pt x="0" y="0"/>
                </a:moveTo>
                <a:lnTo>
                  <a:pt x="604296" y="0"/>
                </a:lnTo>
                <a:lnTo>
                  <a:pt x="604296" y="349393"/>
                </a:lnTo>
                <a:lnTo>
                  <a:pt x="0" y="349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39847" y="2344687"/>
            <a:ext cx="4817277" cy="7980428"/>
          </a:xfrm>
          <a:custGeom>
            <a:avLst/>
            <a:gdLst/>
            <a:ahLst/>
            <a:cxnLst/>
            <a:rect r="r" b="b" t="t" l="l"/>
            <a:pathLst>
              <a:path h="7980428" w="4817277">
                <a:moveTo>
                  <a:pt x="0" y="0"/>
                </a:moveTo>
                <a:lnTo>
                  <a:pt x="4817277" y="0"/>
                </a:lnTo>
                <a:lnTo>
                  <a:pt x="4817277" y="7980428"/>
                </a:lnTo>
                <a:lnTo>
                  <a:pt x="0" y="79804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93161" y="7237926"/>
            <a:ext cx="2546686" cy="3638123"/>
          </a:xfrm>
          <a:custGeom>
            <a:avLst/>
            <a:gdLst/>
            <a:ahLst/>
            <a:cxnLst/>
            <a:rect r="r" b="b" t="t" l="l"/>
            <a:pathLst>
              <a:path h="3638123" w="2546686">
                <a:moveTo>
                  <a:pt x="0" y="0"/>
                </a:moveTo>
                <a:lnTo>
                  <a:pt x="2546686" y="0"/>
                </a:lnTo>
                <a:lnTo>
                  <a:pt x="2546686" y="3638123"/>
                </a:lnTo>
                <a:lnTo>
                  <a:pt x="0" y="36381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06629" y="1217473"/>
            <a:ext cx="2890291" cy="2254427"/>
          </a:xfrm>
          <a:custGeom>
            <a:avLst/>
            <a:gdLst/>
            <a:ahLst/>
            <a:cxnLst/>
            <a:rect r="r" b="b" t="t" l="l"/>
            <a:pathLst>
              <a:path h="2254427" w="2890291">
                <a:moveTo>
                  <a:pt x="0" y="0"/>
                </a:moveTo>
                <a:lnTo>
                  <a:pt x="2890291" y="0"/>
                </a:lnTo>
                <a:lnTo>
                  <a:pt x="2890291" y="2254427"/>
                </a:lnTo>
                <a:lnTo>
                  <a:pt x="0" y="22544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7358" y="4325359"/>
            <a:ext cx="10291074" cy="150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b="true" sz="12000" spc="-52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7358" y="5771254"/>
            <a:ext cx="6172265" cy="514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6"/>
              </a:lnSpc>
              <a:spcBef>
                <a:spcPct val="0"/>
              </a:spcBef>
            </a:pPr>
            <a:r>
              <a:rPr lang="en-US" sz="3004" spc="4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 YOUR ATTENTION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7358" y="8314415"/>
            <a:ext cx="495136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-63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by SUBHAM MEHER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DAHPDcC6K58</dc:identifier>
  <dcterms:modified xsi:type="dcterms:W3CDTF">2011-08-01T06:04:30Z</dcterms:modified>
  <cp:revision>1</cp:revision>
  <dc:title>www.reallygreatsite.com</dc:title>
</cp:coreProperties>
</file>